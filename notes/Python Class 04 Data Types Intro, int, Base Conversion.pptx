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Calibri" panose="020F0502020204030204" pitchFamily="34" charset="0"/>
      <p:regular r:id="rId17"/>
      <p:bold r:id="rId18"/>
      <p:italic r:id="rId19"/>
      <p:boldItalic r:id="rId20"/>
    </p:embeddedFont>
    <p:embeddedFont>
      <p:font typeface="JetBrains Mono" panose="020B060402020202020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2" d="100"/>
          <a:sy n="102" d="100"/>
        </p:scale>
        <p:origin x="-77"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82091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9 to 11 of the notes: data types introduction, the int data type and base conversion.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Topics covered in this class.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type represents the type of data present inside a variable. Python is dynamically typed: we do not declare the type, it is assigned from the value.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 concept exists in Python, but we are not required to declare it explicitly.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gives the type, id() the address of the object, print() displays the value. The id shown in the notes was 140712714015840.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represents whole numbers. In Python 2 there was a separate long type; in Python 3 int handles very large values as well.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always shows values in decimal, whatever form we wrote.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0o123 = 64 + 16 + 3 = 83. 0xface is 64206 and 0xbeef is 48879.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b111 is just an undefined name. 0o786 contains 8, not valid in octal. 0xbeer contains r, not valid in hex.</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base conversion functions are applicable only for integral numbers.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 converts from any base to binary and oct() to octal. Results are strings with the prefix.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hex() converts from any base to hexadecimal. Applicable only for integral numbers.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of the class.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0b, 0o and 0x. 8 is not a valid octal digit. '0b1111'. int; Python 3 has no separate long type.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1041"/>
            <a:ext cx="10566400" cy="407415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6332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71041"/>
            <a:ext cx="10566400" cy="4074159"/>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52989" cy="401320"/>
          </a:xfrm>
          <a:prstGeom prst="roundRect">
            <a:avLst>
              <a:gd name="adj" fmla="val 50000"/>
            </a:avLst>
          </a:prstGeom>
          <a:solidFill>
            <a:srgbClr val="FFD43B"/>
          </a:solidFill>
          <a:ln/>
        </p:spPr>
        <p:txBody>
          <a:bodyPr wrap="none" lIns="0" tIns="0" rIns="0" bIns="0" rtlCol="0" anchor="ctr">
            <a:normAutofit/>
          </a:bodyPr>
          <a:lstStyle/>
          <a:p>
            <a:pPr marL="0" indent="0" algn="ctr">
              <a:lnSpc>
                <a:spcPts val="1960"/>
              </a:lnSpc>
              <a:buNone/>
            </a:pPr>
            <a:r>
              <a:rPr lang="en-US" sz="1400" b="1" dirty="0">
                <a:solidFill>
                  <a:srgbClr val="0F1B2D"/>
                </a:solidFill>
                <a:latin typeface="IBM Plex Sans" pitchFamily="34" charset="0"/>
                <a:ea typeface="IBM Plex Sans" pitchFamily="34" charset="-122"/>
                <a:cs typeface="IBM Plex Sans" pitchFamily="34" charset="-120"/>
              </a:rPr>
              <a:t>Class 04</a:t>
            </a:r>
            <a:endParaRPr lang="en-US" sz="1400" dirty="0"/>
          </a:p>
        </p:txBody>
      </p:sp>
      <p:sp>
        <p:nvSpPr>
          <p:cNvPr id="3" name="Text 1"/>
          <p:cNvSpPr>
            <a:spLocks noGrp="1"/>
          </p:cNvSpPr>
          <p:nvPr>
            <p:ph type="title"/>
          </p:nvPr>
        </p:nvSpPr>
        <p:spPr>
          <a:xfrm>
            <a:off x="812800" y="2430780"/>
            <a:ext cx="9810750" cy="1310640"/>
          </a:xfrm>
          <a:prstGeom prst="rect">
            <a:avLst/>
          </a:prstGeom>
          <a:noFill/>
          <a:ln/>
        </p:spPr>
        <p:txBody>
          <a:bodyPr wrap="square" lIns="0" tIns="0" rIns="0" bIns="0" rtlCol="0" anchor="t">
            <a:normAutofit/>
          </a:bodyPr>
          <a:lstStyle/>
          <a:p>
            <a:pPr marL="0" indent="0" algn="l">
              <a:lnSpc>
                <a:spcPts val="5060"/>
              </a:lnSpc>
              <a:buNone/>
            </a:pPr>
            <a:r>
              <a:rPr lang="en-US" sz="4600" b="1" i="0" dirty="0">
                <a:solidFill>
                  <a:srgbClr val="F6F4EE"/>
                </a:solidFill>
                <a:latin typeface="IBM Plex Sans" pitchFamily="34" charset="0"/>
                <a:ea typeface="IBM Plex Sans" pitchFamily="34" charset="-122"/>
                <a:cs typeface="IBM Plex Sans" pitchFamily="34" charset="-120"/>
              </a:rPr>
              <a:t>Data Types: Intro, int, Base Conversion</a:t>
            </a:r>
            <a:endParaRPr lang="en-US" sz="4600" dirty="0"/>
          </a:p>
        </p:txBody>
      </p:sp>
      <p:sp>
        <p:nvSpPr>
          <p:cNvPr id="4" name="Text 2"/>
          <p:cNvSpPr/>
          <p:nvPr/>
        </p:nvSpPr>
        <p:spPr>
          <a:xfrm>
            <a:off x="812800" y="3919220"/>
            <a:ext cx="8502650"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B8C4D6"/>
                </a:solidFill>
                <a:latin typeface="IBM Plex Sans" pitchFamily="34" charset="0"/>
                <a:ea typeface="IBM Plex Sans" pitchFamily="34" charset="-122"/>
                <a:cs typeface="IBM Plex Sans" pitchFamily="34" charset="-120"/>
              </a:rPr>
              <a:t>Built-in data types, the int type, number bases and the bin(), oct() and hex() functions.</a:t>
            </a:r>
            <a:endParaRPr lang="en-US" sz="2000" dirty="0"/>
          </a:p>
        </p:txBody>
      </p:sp>
      <p:sp>
        <p:nvSpPr>
          <p:cNvPr id="5" name="Text 3"/>
          <p:cNvSpPr/>
          <p:nvPr/>
        </p:nvSpPr>
        <p:spPr>
          <a:xfrm>
            <a:off x="812800" y="57962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FA0B8"/>
                </a:solidFill>
                <a:latin typeface="IBM Plex Sans" pitchFamily="34" charset="0"/>
                <a:ea typeface="IBM Plex Sans" pitchFamily="34" charset="-122"/>
                <a:cs typeface="IBM Plex Sans" pitchFamily="34" charset="-120"/>
              </a:rPr>
              <a:t>Python Course</a:t>
            </a:r>
            <a:endParaRPr lang="en-US" sz="1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AGENDA</a:t>
            </a:r>
            <a:endParaRPr lang="en-US" sz="1400" dirty="0"/>
          </a:p>
        </p:txBody>
      </p:sp>
      <p:sp>
        <p:nvSpPr>
          <p:cNvPr id="3" name="Text 1"/>
          <p:cNvSpPr>
            <a:spLocks noGrp="1"/>
          </p:cNvSpPr>
          <p:nvPr>
            <p:ph type="title"/>
          </p:nvPr>
        </p:nvSpPr>
        <p:spPr>
          <a:xfrm>
            <a:off x="812800" y="11633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In this class</a:t>
            </a:r>
            <a:endParaRPr lang="en-US" sz="3600" dirty="0"/>
          </a:p>
        </p:txBody>
      </p:sp>
      <p:sp>
        <p:nvSpPr>
          <p:cNvPr id="4" name="Shape 2"/>
          <p:cNvSpPr/>
          <p:nvPr/>
        </p:nvSpPr>
        <p:spPr>
          <a:xfrm>
            <a:off x="815975" y="1974215"/>
            <a:ext cx="2520950" cy="994410"/>
          </a:xfrm>
          <a:prstGeom prst="roundRect">
            <a:avLst>
              <a:gd name="adj" fmla="val 9898"/>
            </a:avLst>
          </a:prstGeom>
          <a:solidFill>
            <a:srgbClr val="FDFCF8"/>
          </a:solidFill>
          <a:ln w="6350">
            <a:solidFill>
              <a:srgbClr val="E3DED2"/>
            </a:solidFill>
            <a:prstDash val="solid"/>
          </a:ln>
        </p:spPr>
      </p:sp>
      <p:sp>
        <p:nvSpPr>
          <p:cNvPr id="5" name="Text 3"/>
          <p:cNvSpPr/>
          <p:nvPr/>
        </p:nvSpPr>
        <p:spPr>
          <a:xfrm>
            <a:off x="1021080" y="2179320"/>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F8E"/>
                </a:solidFill>
                <a:latin typeface="IBM Plex Sans" pitchFamily="34" charset="0"/>
                <a:ea typeface="IBM Plex Sans" pitchFamily="34" charset="-122"/>
                <a:cs typeface="IBM Plex Sans" pitchFamily="34" charset="-120"/>
              </a:rPr>
              <a:t>01</a:t>
            </a:r>
            <a:endParaRPr lang="en-US" sz="1400" dirty="0"/>
          </a:p>
        </p:txBody>
      </p:sp>
      <p:sp>
        <p:nvSpPr>
          <p:cNvPr id="6" name="Text 4"/>
          <p:cNvSpPr/>
          <p:nvPr/>
        </p:nvSpPr>
        <p:spPr>
          <a:xfrm>
            <a:off x="1021080" y="2504440"/>
            <a:ext cx="217406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Data types intro</a:t>
            </a:r>
            <a:endParaRPr lang="en-US" sz="1700" dirty="0"/>
          </a:p>
        </p:txBody>
      </p:sp>
      <p:sp>
        <p:nvSpPr>
          <p:cNvPr id="7" name="Shape 5"/>
          <p:cNvSpPr/>
          <p:nvPr/>
        </p:nvSpPr>
        <p:spPr>
          <a:xfrm>
            <a:off x="3495675" y="1974215"/>
            <a:ext cx="2520950" cy="994410"/>
          </a:xfrm>
          <a:prstGeom prst="roundRect">
            <a:avLst>
              <a:gd name="adj" fmla="val 9898"/>
            </a:avLst>
          </a:prstGeom>
          <a:solidFill>
            <a:srgbClr val="FDFCF8"/>
          </a:solidFill>
          <a:ln w="6350">
            <a:solidFill>
              <a:srgbClr val="E3DED2"/>
            </a:solidFill>
            <a:prstDash val="solid"/>
          </a:ln>
        </p:spPr>
      </p:sp>
      <p:sp>
        <p:nvSpPr>
          <p:cNvPr id="8" name="Text 6"/>
          <p:cNvSpPr/>
          <p:nvPr/>
        </p:nvSpPr>
        <p:spPr>
          <a:xfrm>
            <a:off x="3700780" y="2179320"/>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F8E"/>
                </a:solidFill>
                <a:latin typeface="IBM Plex Sans" pitchFamily="34" charset="0"/>
                <a:ea typeface="IBM Plex Sans" pitchFamily="34" charset="-122"/>
                <a:cs typeface="IBM Plex Sans" pitchFamily="34" charset="-120"/>
              </a:rPr>
              <a:t>02</a:t>
            </a:r>
            <a:endParaRPr lang="en-US" sz="1400" dirty="0"/>
          </a:p>
        </p:txBody>
      </p:sp>
      <p:sp>
        <p:nvSpPr>
          <p:cNvPr id="9" name="Text 7"/>
          <p:cNvSpPr/>
          <p:nvPr/>
        </p:nvSpPr>
        <p:spPr>
          <a:xfrm>
            <a:off x="3700780" y="2504440"/>
            <a:ext cx="217406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type(), id(), print()</a:t>
            </a:r>
            <a:endParaRPr lang="en-US" sz="1700" dirty="0"/>
          </a:p>
        </p:txBody>
      </p:sp>
      <p:sp>
        <p:nvSpPr>
          <p:cNvPr id="10" name="Shape 8"/>
          <p:cNvSpPr/>
          <p:nvPr/>
        </p:nvSpPr>
        <p:spPr>
          <a:xfrm>
            <a:off x="6175375" y="1974215"/>
            <a:ext cx="2520950" cy="994410"/>
          </a:xfrm>
          <a:prstGeom prst="roundRect">
            <a:avLst>
              <a:gd name="adj" fmla="val 9898"/>
            </a:avLst>
          </a:prstGeom>
          <a:solidFill>
            <a:srgbClr val="FDFCF8"/>
          </a:solidFill>
          <a:ln w="6350">
            <a:solidFill>
              <a:srgbClr val="E3DED2"/>
            </a:solidFill>
            <a:prstDash val="solid"/>
          </a:ln>
        </p:spPr>
      </p:sp>
      <p:sp>
        <p:nvSpPr>
          <p:cNvPr id="11" name="Text 9"/>
          <p:cNvSpPr/>
          <p:nvPr/>
        </p:nvSpPr>
        <p:spPr>
          <a:xfrm>
            <a:off x="6380480" y="2179320"/>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F8E"/>
                </a:solidFill>
                <a:latin typeface="IBM Plex Sans" pitchFamily="34" charset="0"/>
                <a:ea typeface="IBM Plex Sans" pitchFamily="34" charset="-122"/>
                <a:cs typeface="IBM Plex Sans" pitchFamily="34" charset="-120"/>
              </a:rPr>
              <a:t>03</a:t>
            </a:r>
            <a:endParaRPr lang="en-US" sz="1400" dirty="0"/>
          </a:p>
        </p:txBody>
      </p:sp>
      <p:sp>
        <p:nvSpPr>
          <p:cNvPr id="12" name="Text 10"/>
          <p:cNvSpPr/>
          <p:nvPr/>
        </p:nvSpPr>
        <p:spPr>
          <a:xfrm>
            <a:off x="6380480" y="2504440"/>
            <a:ext cx="231267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int and its four bases</a:t>
            </a:r>
            <a:endParaRPr lang="en-US" sz="1700" dirty="0"/>
          </a:p>
        </p:txBody>
      </p:sp>
      <p:sp>
        <p:nvSpPr>
          <p:cNvPr id="13" name="Shape 11"/>
          <p:cNvSpPr/>
          <p:nvPr/>
        </p:nvSpPr>
        <p:spPr>
          <a:xfrm>
            <a:off x="8855075" y="1974215"/>
            <a:ext cx="2520950" cy="994410"/>
          </a:xfrm>
          <a:prstGeom prst="roundRect">
            <a:avLst>
              <a:gd name="adj" fmla="val 9898"/>
            </a:avLst>
          </a:prstGeom>
          <a:solidFill>
            <a:srgbClr val="FDFCF8"/>
          </a:solidFill>
          <a:ln w="6350">
            <a:solidFill>
              <a:srgbClr val="E3DED2"/>
            </a:solidFill>
            <a:prstDash val="solid"/>
          </a:ln>
        </p:spPr>
      </p:sp>
      <p:sp>
        <p:nvSpPr>
          <p:cNvPr id="14" name="Text 12"/>
          <p:cNvSpPr/>
          <p:nvPr/>
        </p:nvSpPr>
        <p:spPr>
          <a:xfrm>
            <a:off x="9060180" y="2179320"/>
            <a:ext cx="217406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F8E"/>
                </a:solidFill>
                <a:latin typeface="IBM Plex Sans" pitchFamily="34" charset="0"/>
                <a:ea typeface="IBM Plex Sans" pitchFamily="34" charset="-122"/>
                <a:cs typeface="IBM Plex Sans" pitchFamily="34" charset="-120"/>
              </a:rPr>
              <a:t>04</a:t>
            </a:r>
            <a:endParaRPr lang="en-US" sz="1400" dirty="0"/>
          </a:p>
        </p:txBody>
      </p:sp>
      <p:sp>
        <p:nvSpPr>
          <p:cNvPr id="15" name="Text 13"/>
          <p:cNvSpPr/>
          <p:nvPr/>
        </p:nvSpPr>
        <p:spPr>
          <a:xfrm>
            <a:off x="9060180" y="2504440"/>
            <a:ext cx="217406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bin(), oct(), hex()</a:t>
            </a:r>
            <a:endParaRPr lang="en-US" sz="1700" dirty="0"/>
          </a:p>
        </p:txBody>
      </p:sp>
      <p:sp>
        <p:nvSpPr>
          <p:cNvPr id="16" name="Text 14"/>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17" name="Text 15"/>
          <p:cNvSpPr/>
          <p:nvPr/>
        </p:nvSpPr>
        <p:spPr>
          <a:xfrm>
            <a:off x="9417050" y="6238241"/>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2 / 14</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INTRODUCTION</a:t>
            </a:r>
            <a:endParaRPr lang="en-US" sz="1400" dirty="0"/>
          </a:p>
        </p:txBody>
      </p:sp>
      <p:sp>
        <p:nvSpPr>
          <p:cNvPr id="3" name="Text 1"/>
          <p:cNvSpPr>
            <a:spLocks noGrp="1"/>
          </p:cNvSpPr>
          <p:nvPr>
            <p:ph type="title"/>
          </p:nvPr>
        </p:nvSpPr>
        <p:spPr>
          <a:xfrm>
            <a:off x="812800" y="11633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Data types in Python</a:t>
            </a:r>
            <a:endParaRPr lang="en-US" sz="3600" dirty="0"/>
          </a:p>
        </p:txBody>
      </p:sp>
      <p:sp>
        <p:nvSpPr>
          <p:cNvPr id="4" name="Shape 2"/>
          <p:cNvSpPr/>
          <p:nvPr/>
        </p:nvSpPr>
        <p:spPr>
          <a:xfrm>
            <a:off x="815975" y="1923416"/>
            <a:ext cx="3397250" cy="1583690"/>
          </a:xfrm>
          <a:prstGeom prst="roundRect">
            <a:avLst>
              <a:gd name="adj" fmla="val 6215"/>
            </a:avLst>
          </a:prstGeom>
          <a:solidFill>
            <a:srgbClr val="FDFCF8"/>
          </a:solidFill>
          <a:ln w="6350">
            <a:solidFill>
              <a:srgbClr val="E3DED2"/>
            </a:solidFill>
            <a:prstDash val="solid"/>
          </a:ln>
        </p:spPr>
      </p:sp>
      <p:sp>
        <p:nvSpPr>
          <p:cNvPr id="5" name="Text 3"/>
          <p:cNvSpPr/>
          <p:nvPr/>
        </p:nvSpPr>
        <p:spPr>
          <a:xfrm>
            <a:off x="1046480" y="2153920"/>
            <a:ext cx="302432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What is a data type?</a:t>
            </a:r>
            <a:endParaRPr lang="en-US" sz="1800" dirty="0"/>
          </a:p>
        </p:txBody>
      </p:sp>
      <p:sp>
        <p:nvSpPr>
          <p:cNvPr id="6" name="Text 4"/>
          <p:cNvSpPr/>
          <p:nvPr/>
        </p:nvSpPr>
        <p:spPr>
          <a:xfrm>
            <a:off x="1046480" y="2529841"/>
            <a:ext cx="302432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It represents the type of data present inside a variable.</a:t>
            </a:r>
            <a:endParaRPr lang="en-US" sz="1400" dirty="0"/>
          </a:p>
        </p:txBody>
      </p:sp>
      <p:sp>
        <p:nvSpPr>
          <p:cNvPr id="7" name="Shape 5"/>
          <p:cNvSpPr/>
          <p:nvPr/>
        </p:nvSpPr>
        <p:spPr>
          <a:xfrm>
            <a:off x="4397375" y="1923416"/>
            <a:ext cx="3397250" cy="1583690"/>
          </a:xfrm>
          <a:prstGeom prst="roundRect">
            <a:avLst>
              <a:gd name="adj" fmla="val 6215"/>
            </a:avLst>
          </a:prstGeom>
          <a:solidFill>
            <a:srgbClr val="FDFCF8"/>
          </a:solidFill>
          <a:ln w="6350">
            <a:solidFill>
              <a:srgbClr val="E3DED2"/>
            </a:solidFill>
            <a:prstDash val="solid"/>
          </a:ln>
        </p:spPr>
      </p:sp>
      <p:sp>
        <p:nvSpPr>
          <p:cNvPr id="8" name="Text 6"/>
          <p:cNvSpPr/>
          <p:nvPr/>
        </p:nvSpPr>
        <p:spPr>
          <a:xfrm>
            <a:off x="4627880" y="2153920"/>
            <a:ext cx="302432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Dynamically typed</a:t>
            </a:r>
            <a:endParaRPr lang="en-US" sz="1800" dirty="0"/>
          </a:p>
        </p:txBody>
      </p:sp>
      <p:sp>
        <p:nvSpPr>
          <p:cNvPr id="9" name="Text 7"/>
          <p:cNvSpPr/>
          <p:nvPr/>
        </p:nvSpPr>
        <p:spPr>
          <a:xfrm>
            <a:off x="4627880" y="2529841"/>
            <a:ext cx="302432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We do not declare the type. Python assigns it from the value provided.</a:t>
            </a:r>
            <a:endParaRPr lang="en-US" sz="1400" dirty="0"/>
          </a:p>
        </p:txBody>
      </p:sp>
      <p:sp>
        <p:nvSpPr>
          <p:cNvPr id="10" name="Shape 8"/>
          <p:cNvSpPr/>
          <p:nvPr/>
        </p:nvSpPr>
        <p:spPr>
          <a:xfrm>
            <a:off x="7978775" y="1923416"/>
            <a:ext cx="3397250" cy="1583690"/>
          </a:xfrm>
          <a:prstGeom prst="roundRect">
            <a:avLst>
              <a:gd name="adj" fmla="val 6215"/>
            </a:avLst>
          </a:prstGeom>
          <a:solidFill>
            <a:srgbClr val="FDFCF8"/>
          </a:solidFill>
          <a:ln w="6350">
            <a:solidFill>
              <a:srgbClr val="E3DED2"/>
            </a:solidFill>
            <a:prstDash val="solid"/>
          </a:ln>
        </p:spPr>
      </p:sp>
      <p:sp>
        <p:nvSpPr>
          <p:cNvPr id="11" name="Text 9"/>
          <p:cNvSpPr/>
          <p:nvPr/>
        </p:nvSpPr>
        <p:spPr>
          <a:xfrm>
            <a:off x="8209280" y="2153920"/>
            <a:ext cx="302432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Everything is an object</a:t>
            </a:r>
            <a:endParaRPr lang="en-US" sz="1800" dirty="0"/>
          </a:p>
        </p:txBody>
      </p:sp>
      <p:sp>
        <p:nvSpPr>
          <p:cNvPr id="12" name="Text 10"/>
          <p:cNvSpPr/>
          <p:nvPr/>
        </p:nvSpPr>
        <p:spPr>
          <a:xfrm>
            <a:off x="8209280" y="2529841"/>
            <a:ext cx="302432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In a = 10, the value 10 is an object of class int and a is a reference variable pointing to it.</a:t>
            </a:r>
            <a:endParaRPr lang="en-US" sz="1400" dirty="0"/>
          </a:p>
        </p:txBody>
      </p:sp>
      <p:sp>
        <p:nvSpPr>
          <p:cNvPr id="13" name="Text 11"/>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14" name="Text 12"/>
          <p:cNvSpPr/>
          <p:nvPr/>
        </p:nvSpPr>
        <p:spPr>
          <a:xfrm>
            <a:off x="9417050" y="6238241"/>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3 / 14</a:t>
            </a:r>
            <a:endParaRPr lang="en-US"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INTRODUCTION</a:t>
            </a:r>
            <a:endParaRPr lang="en-US" sz="1400" dirty="0"/>
          </a:p>
        </p:txBody>
      </p:sp>
      <p:sp>
        <p:nvSpPr>
          <p:cNvPr id="3" name="Text 1"/>
          <p:cNvSpPr>
            <a:spLocks noGrp="1"/>
          </p:cNvSpPr>
          <p:nvPr>
            <p:ph type="title"/>
          </p:nvPr>
        </p:nvSpPr>
        <p:spPr>
          <a:xfrm>
            <a:off x="812800" y="116332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14 built-in data types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30401"/>
          <a:ext cx="10556240" cy="2871470"/>
        </p:xfrm>
        <a:graphic>
          <a:graphicData uri="http://schemas.openxmlformats.org/drawingml/2006/table">
            <a:tbl>
              <a:tblPr/>
              <a:tblGrid>
                <a:gridCol w="3166872"/>
                <a:gridCol w="7389368"/>
              </a:tblGrid>
              <a:tr h="410210">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Group</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Types</a:t>
                      </a:r>
                      <a:endParaRPr lang="en-US" sz="1500" dirty="0">
                        <a:latin typeface="IBM Plex Sans" charset="0"/>
                        <a:ea typeface="IBM Plex Sans" charset="0"/>
                        <a:cs typeface="IBM Plex Sans" charset="0"/>
                      </a:endParaRPr>
                    </a:p>
                  </a:txBody>
                  <a:tcPr marL="66675" marR="66675" marT="66675" marB="6667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Numbers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int, float, complex</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Logical and text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bool, str</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Binary</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bytes, bytearray</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Sequences and ranges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range, list, tuple</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Sets and mappings</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set, frozenset, dict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Empty value</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None</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r>
            </a:tbl>
          </a:graphicData>
        </a:graphic>
      </p:graphicFrame>
      <p:sp>
        <p:nvSpPr>
          <p:cNvPr id="5" name="Shape 2"/>
          <p:cNvSpPr/>
          <p:nvPr/>
        </p:nvSpPr>
        <p:spPr>
          <a:xfrm>
            <a:off x="838200" y="5055870"/>
            <a:ext cx="0" cy="350520"/>
          </a:xfrm>
          <a:prstGeom prst="line">
            <a:avLst/>
          </a:prstGeom>
          <a:noFill/>
          <a:ln w="50800">
            <a:solidFill>
              <a:srgbClr val="FFD43B"/>
            </a:solidFill>
            <a:prstDash val="solid"/>
          </a:ln>
        </p:spPr>
      </p:sp>
      <p:sp>
        <p:nvSpPr>
          <p:cNvPr id="6" name="Text 3"/>
          <p:cNvSpPr/>
          <p:nvPr/>
        </p:nvSpPr>
        <p:spPr>
          <a:xfrm>
            <a:off x="1066800" y="5106670"/>
            <a:ext cx="1062177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F1B2D"/>
                </a:solidFill>
                <a:latin typeface="IBM Plex Sans" pitchFamily="34" charset="0"/>
                <a:ea typeface="IBM Plex Sans" pitchFamily="34" charset="-122"/>
                <a:cs typeface="IBM Plex Sans" pitchFamily="34" charset="-120"/>
              </a:rPr>
              <a:t>The type concept exists in Python, but we are not required to declare it explicitly.</a:t>
            </a:r>
            <a:endParaRPr lang="en-US" sz="1400" dirty="0"/>
          </a:p>
        </p:txBody>
      </p:sp>
      <p:sp>
        <p:nvSpPr>
          <p:cNvPr id="7" name="Text 4"/>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8" name="Text 5"/>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4 / 14</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BUILT-IN FUNCTIONS</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type(), id() and print()</a:t>
            </a:r>
            <a:endParaRPr lang="en-US" sz="3600" dirty="0"/>
          </a:p>
        </p:txBody>
      </p:sp>
      <p:sp>
        <p:nvSpPr>
          <p:cNvPr id="4" name="Text 2"/>
          <p:cNvSpPr/>
          <p:nvPr/>
        </p:nvSpPr>
        <p:spPr>
          <a:xfrm>
            <a:off x="812800" y="1920239"/>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type() checks the type of a variable.</a:t>
            </a:r>
            <a:endParaRPr lang="en-US" sz="1500" dirty="0"/>
          </a:p>
        </p:txBody>
      </p:sp>
      <p:sp>
        <p:nvSpPr>
          <p:cNvPr id="5" name="Text 3"/>
          <p:cNvSpPr/>
          <p:nvPr/>
        </p:nvSpPr>
        <p:spPr>
          <a:xfrm>
            <a:off x="812800" y="2339339"/>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id() gets the address of an object.</a:t>
            </a:r>
            <a:endParaRPr lang="en-US" sz="1500" dirty="0"/>
          </a:p>
        </p:txBody>
      </p:sp>
      <p:sp>
        <p:nvSpPr>
          <p:cNvPr id="6" name="Text 4"/>
          <p:cNvSpPr/>
          <p:nvPr/>
        </p:nvSpPr>
        <p:spPr>
          <a:xfrm>
            <a:off x="812800" y="2758439"/>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print() prints the value.</a:t>
            </a:r>
            <a:endParaRPr lang="en-US" sz="1500" dirty="0"/>
          </a:p>
        </p:txBody>
      </p:sp>
      <p:sp>
        <p:nvSpPr>
          <p:cNvPr id="7" name="Text 5"/>
          <p:cNvSpPr/>
          <p:nvPr/>
        </p:nvSpPr>
        <p:spPr>
          <a:xfrm>
            <a:off x="5232400" y="1920239"/>
            <a:ext cx="6146800" cy="1498600"/>
          </a:xfrm>
          <a:prstGeom prst="roundRect">
            <a:avLst>
              <a:gd name="adj" fmla="val 10169"/>
            </a:avLst>
          </a:prstGeom>
          <a:solidFill>
            <a:srgbClr val="0A1322"/>
          </a:solidFill>
          <a:ln/>
        </p:spPr>
        <p:txBody>
          <a:bodyPr wrap="none" lIns="209364" tIns="209364" rIns="40200" bIns="183964" rtlCol="0" anchor="t">
            <a:normAutofit/>
          </a:bodyPr>
          <a:lstStyle/>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10</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type(a)    </a:t>
            </a:r>
            <a:r>
              <a:rPr lang="en-US" sz="1300" dirty="0">
                <a:solidFill>
                  <a:srgbClr val="7F8FA8"/>
                </a:solidFill>
                <a:latin typeface="JetBrains Mono" pitchFamily="49" charset="0"/>
                <a:ea typeface="JetBrains Mono" pitchFamily="49" charset="-122"/>
                <a:cs typeface="JetBrains Mono" pitchFamily="49" charset="-120"/>
              </a:rPr>
              <a:t># int</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id(a)      </a:t>
            </a:r>
            <a:r>
              <a:rPr lang="en-US" sz="1300" dirty="0">
                <a:solidFill>
                  <a:srgbClr val="7F8FA8"/>
                </a:solidFill>
                <a:latin typeface="JetBrains Mono" pitchFamily="49" charset="0"/>
                <a:ea typeface="JetBrains Mono" pitchFamily="49" charset="-122"/>
                <a:cs typeface="JetBrains Mono" pitchFamily="49" charset="-120"/>
              </a:rPr>
              <a:t># 140712714015840</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print(a)   </a:t>
            </a:r>
            <a:r>
              <a:rPr lang="en-US" sz="1300" dirty="0">
                <a:solidFill>
                  <a:srgbClr val="7F8FA8"/>
                </a:solidFill>
                <a:latin typeface="JetBrains Mono" pitchFamily="49" charset="0"/>
                <a:ea typeface="JetBrains Mono" pitchFamily="49" charset="-122"/>
                <a:cs typeface="JetBrains Mono" pitchFamily="49" charset="-120"/>
              </a:rPr>
              <a:t># 10</a:t>
            </a:r>
            <a:endParaRPr lang="en-US" sz="1300" dirty="0"/>
          </a:p>
        </p:txBody>
      </p:sp>
      <p:sp>
        <p:nvSpPr>
          <p:cNvPr id="8" name="Text 6"/>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9" name="Text 7"/>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5 / 14</a:t>
            </a:r>
            <a:endParaRPr lang="en-US" sz="1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INT TYPE</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The int data type</a:t>
            </a:r>
            <a:endParaRPr lang="en-US" sz="3600" dirty="0"/>
          </a:p>
        </p:txBody>
      </p:sp>
      <p:sp>
        <p:nvSpPr>
          <p:cNvPr id="4" name="Text 2"/>
          <p:cNvSpPr/>
          <p:nvPr/>
        </p:nvSpPr>
        <p:spPr>
          <a:xfrm>
            <a:off x="812800" y="1920239"/>
            <a:ext cx="4419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int represents whole numbers (integral values).</a:t>
            </a:r>
            <a:endParaRPr lang="en-US" sz="1500" dirty="0"/>
          </a:p>
        </p:txBody>
      </p:sp>
      <p:sp>
        <p:nvSpPr>
          <p:cNvPr id="5" name="Text 3"/>
          <p:cNvSpPr/>
          <p:nvPr/>
        </p:nvSpPr>
        <p:spPr>
          <a:xfrm>
            <a:off x="812800" y="2339339"/>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Python 2 had a separate long type.</a:t>
            </a:r>
            <a:endParaRPr lang="en-US" sz="1500" dirty="0"/>
          </a:p>
        </p:txBody>
      </p:sp>
      <p:sp>
        <p:nvSpPr>
          <p:cNvPr id="6" name="Text 4"/>
          <p:cNvSpPr/>
          <p:nvPr/>
        </p:nvSpPr>
        <p:spPr>
          <a:xfrm>
            <a:off x="812800" y="2758439"/>
            <a:ext cx="44196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Python 3 has only int, even for very long values.</a:t>
            </a:r>
            <a:endParaRPr lang="en-US" sz="1500" dirty="0"/>
          </a:p>
        </p:txBody>
      </p:sp>
      <p:sp>
        <p:nvSpPr>
          <p:cNvPr id="7" name="Text 5"/>
          <p:cNvSpPr/>
          <p:nvPr/>
        </p:nvSpPr>
        <p:spPr>
          <a:xfrm>
            <a:off x="5232400" y="1920239"/>
            <a:ext cx="6146800" cy="2241550"/>
          </a:xfrm>
          <a:prstGeom prst="roundRect">
            <a:avLst>
              <a:gd name="adj" fmla="val 6799"/>
            </a:avLst>
          </a:prstGeom>
          <a:solidFill>
            <a:srgbClr val="0A1322"/>
          </a:solidFill>
          <a:ln/>
        </p:spPr>
        <p:txBody>
          <a:bodyPr wrap="none" lIns="209364" tIns="209364" rIns="40200" bIns="183964" rtlCol="0" anchor="t">
            <a:normAutofit fontScale="25000" lnSpcReduction="20000"/>
          </a:bodyPr>
          <a:lstStyle/>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10</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type(a)   </a:t>
            </a:r>
            <a:r>
              <a:rPr lang="en-US" sz="1300" dirty="0">
                <a:solidFill>
                  <a:srgbClr val="7F8FA8"/>
                </a:solidFill>
                <a:latin typeface="JetBrains Mono" pitchFamily="49" charset="0"/>
                <a:ea typeface="JetBrains Mono" pitchFamily="49" charset="-122"/>
                <a:cs typeface="JetBrains Mono" pitchFamily="49" charset="-120"/>
              </a:rPr>
              <a:t># int</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 </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1234567888897333</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type(a)   </a:t>
            </a:r>
            <a:r>
              <a:rPr lang="en-US" sz="1300" dirty="0">
                <a:solidFill>
                  <a:srgbClr val="7F8FA8"/>
                </a:solidFill>
                <a:latin typeface="JetBrains Mono" pitchFamily="49" charset="0"/>
                <a:ea typeface="JetBrains Mono" pitchFamily="49" charset="-122"/>
                <a:cs typeface="JetBrains Mono" pitchFamily="49" charset="-120"/>
              </a:rPr>
              <a:t># int</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 </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a 51-digit number is still int</a:t>
            </a:r>
            <a:endParaRPr lang="en-US" sz="1300" dirty="0"/>
          </a:p>
        </p:txBody>
      </p:sp>
      <p:sp>
        <p:nvSpPr>
          <p:cNvPr id="8" name="Text 6"/>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9" name="Text 7"/>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6 / 14</a:t>
            </a:r>
            <a:endParaRPr lang="en-US" sz="1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INT TYPE</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Four ways to write an integer</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30399"/>
          <a:ext cx="10556241" cy="2051050"/>
        </p:xfrm>
        <a:graphic>
          <a:graphicData uri="http://schemas.openxmlformats.org/drawingml/2006/table">
            <a:tbl>
              <a:tblPr/>
              <a:tblGrid>
                <a:gridCol w="2955747"/>
                <a:gridCol w="1477874"/>
                <a:gridCol w="3589122"/>
                <a:gridCol w="2533498"/>
              </a:tblGrid>
              <a:tr h="410210">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Form</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Base</a:t>
                      </a:r>
                      <a:endParaRPr lang="en-US" sz="1500" dirty="0">
                        <a:latin typeface="IBM Plex Sans" charset="0"/>
                        <a:ea typeface="IBM Plex Sans" charset="0"/>
                        <a:cs typeface="IBM Plex Sans" charset="0"/>
                      </a:endParaRPr>
                    </a:p>
                  </a:txBody>
                  <a:tcPr marL="66675" marR="66675" marT="66675" marB="6667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Digits</a:t>
                      </a:r>
                      <a:endParaRPr lang="en-US" sz="1500" dirty="0">
                        <a:latin typeface="IBM Plex Sans" charset="0"/>
                        <a:ea typeface="IBM Plex Sans" charset="0"/>
                        <a:cs typeface="IBM Plex Sans" charset="0"/>
                      </a:endParaRPr>
                    </a:p>
                  </a:txBody>
                  <a:tcPr marL="66675" marR="66675" marT="66675" marB="6667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c>
                  <a:txBody>
                    <a:bodyPr/>
                    <a:lstStyle/>
                    <a:p>
                      <a:pPr marL="0" indent="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Prefix</a:t>
                      </a:r>
                      <a:endParaRPr lang="en-US" sz="1500" dirty="0">
                        <a:latin typeface="IBM Plex Sans" charset="0"/>
                        <a:ea typeface="IBM Plex Sans" charset="0"/>
                        <a:cs typeface="IBM Plex Sans" charset="0"/>
                      </a:endParaRPr>
                    </a:p>
                  </a:txBody>
                  <a:tcPr marL="66675" marR="66675" marT="66675" marB="66675">
                    <a:lnL w="12700" cap="flat" cmpd="sng" algn="ctr">
                      <a:solidFill>
                        <a:srgbClr val="101927"/>
                      </a:solidFill>
                      <a:prstDash val="solid"/>
                      <a:round/>
                      <a:headEnd type="none" w="med" len="med"/>
                      <a:tailEnd type="none" w="med" len="med"/>
                    </a:lnL>
                    <a:lnR w="12700" cap="flat" cmpd="sng" algn="ctr">
                      <a:solidFill>
                        <a:srgbClr val="101927"/>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1927"/>
                      </a:solidFill>
                      <a:prstDash val="solid"/>
                      <a:round/>
                      <a:headEnd type="none" w="med" len="med"/>
                      <a:tailEnd type="none" w="med" len="med"/>
                    </a:lnB>
                    <a:solidFill>
                      <a:srgbClr val="0F1B2D"/>
                    </a:solidFill>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Decimal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10</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0 to 9</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none (default)</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01927"/>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Binary</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0 and 1</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0b or 0B</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Octal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8</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0 to 7</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0o or 0O</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A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0210">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Hexadecimal</a:t>
                      </a:r>
                      <a:endParaRPr lang="en-US" sz="1500" dirty="0">
                        <a:latin typeface="IBM Plex Sans" charset="0"/>
                        <a:ea typeface="IBM Plex Sans" charset="0"/>
                        <a:cs typeface="IBM Plex Sans" charset="0"/>
                      </a:endParaRPr>
                    </a:p>
                  </a:txBody>
                  <a:tcPr marL="66675" marR="66675" marT="66675" marB="66675">
                    <a:lnL w="12700" cap="flat" cmpd="sng" algn="ctr">
                      <a:solidFill>
                        <a:srgbClr val="C4C3B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16</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0 to 9, a to f</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c>
                  <a:txBody>
                    <a:bodyPr/>
                    <a:lstStyle/>
                    <a:p>
                      <a:pPr marL="0" indent="0">
                        <a:lnSpc>
                          <a:spcPts val="2100"/>
                        </a:lnSpc>
                        <a:buNone/>
                      </a:pPr>
                      <a:r>
                        <a:rPr lang="en-US" sz="1500" dirty="0">
                          <a:solidFill>
                            <a:srgbClr val="0F1B2D"/>
                          </a:solidFill>
                          <a:latin typeface="IBM Plex Sans" pitchFamily="34" charset="0"/>
                          <a:ea typeface="IBM Plex Sans" pitchFamily="34" charset="-122"/>
                          <a:cs typeface="IBM Plex Sans" pitchFamily="34" charset="-120"/>
                        </a:rPr>
                        <a:t>0x or 0X</a:t>
                      </a:r>
                      <a:endParaRPr lang="en-US" sz="1500" dirty="0">
                        <a:latin typeface="IBM Plex Sans" charset="0"/>
                        <a:ea typeface="IBM Plex Sans" charset="0"/>
                        <a:cs typeface="IBM Plex Sans" charset="0"/>
                      </a:endParaRPr>
                    </a:p>
                  </a:txBody>
                  <a:tcPr marL="66675" marR="66675" marT="66675" marB="66675">
                    <a:lnL w="12700" cap="flat" cmpd="sng" algn="ctr">
                      <a:solidFill>
                        <a:srgbClr val="BCB9AE"/>
                      </a:solidFill>
                      <a:prstDash val="solid"/>
                      <a:round/>
                      <a:headEnd type="none" w="med" len="med"/>
                      <a:tailEnd type="none" w="med" len="med"/>
                    </a:lnL>
                    <a:lnR w="12700" cap="flat" cmpd="sng" algn="ctr">
                      <a:solidFill>
                        <a:srgbClr val="BCB9A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AE"/>
                      </a:solidFill>
                      <a:prstDash val="solid"/>
                      <a:round/>
                      <a:headEnd type="none" w="med" len="med"/>
                      <a:tailEnd type="none" w="med" len="med"/>
                    </a:lnB>
                    <a:solidFill>
                      <a:srgbClr val="ECE7DA"/>
                    </a:solidFill>
                  </a:tcPr>
                </a:tc>
              </a:tr>
            </a:tbl>
          </a:graphicData>
        </a:graphic>
      </p:graphicFrame>
      <p:sp>
        <p:nvSpPr>
          <p:cNvPr id="5" name="Shape 2"/>
          <p:cNvSpPr/>
          <p:nvPr/>
        </p:nvSpPr>
        <p:spPr>
          <a:xfrm>
            <a:off x="838200" y="4235450"/>
            <a:ext cx="0" cy="350520"/>
          </a:xfrm>
          <a:prstGeom prst="line">
            <a:avLst/>
          </a:prstGeom>
          <a:noFill/>
          <a:ln w="50800">
            <a:solidFill>
              <a:srgbClr val="FFD43B"/>
            </a:solidFill>
            <a:prstDash val="solid"/>
          </a:ln>
        </p:spPr>
      </p:sp>
      <p:sp>
        <p:nvSpPr>
          <p:cNvPr id="6" name="Text 3"/>
          <p:cNvSpPr/>
          <p:nvPr/>
        </p:nvSpPr>
        <p:spPr>
          <a:xfrm>
            <a:off x="1066800" y="4286250"/>
            <a:ext cx="1062177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F1B2D"/>
                </a:solidFill>
                <a:latin typeface="IBM Plex Sans" pitchFamily="34" charset="0"/>
                <a:ea typeface="IBM Plex Sans" pitchFamily="34" charset="-122"/>
                <a:cs typeface="IBM Plex Sans" pitchFamily="34" charset="-120"/>
              </a:rPr>
              <a:t>Python always shows values in decimal, whatever form we wrote.</a:t>
            </a:r>
            <a:endParaRPr lang="en-US" sz="1400" dirty="0"/>
          </a:p>
        </p:txBody>
      </p:sp>
      <p:sp>
        <p:nvSpPr>
          <p:cNvPr id="7" name="Text 4"/>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8" name="Text 5"/>
          <p:cNvSpPr/>
          <p:nvPr/>
        </p:nvSpPr>
        <p:spPr>
          <a:xfrm>
            <a:off x="9417050" y="6238239"/>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7 / 14</a:t>
            </a:r>
            <a:endParaRPr lang="en-US" sz="1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INT TYPE</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Literals in each base</a:t>
            </a:r>
            <a:endParaRPr lang="en-US" sz="3600" dirty="0"/>
          </a:p>
        </p:txBody>
      </p:sp>
      <p:sp>
        <p:nvSpPr>
          <p:cNvPr id="4" name="Text 2"/>
          <p:cNvSpPr/>
          <p:nvPr/>
        </p:nvSpPr>
        <p:spPr>
          <a:xfrm>
            <a:off x="812800" y="1920239"/>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1111 is decimal, not binary.</a:t>
            </a:r>
            <a:endParaRPr lang="en-US" sz="1500" dirty="0"/>
          </a:p>
        </p:txBody>
      </p:sp>
      <p:sp>
        <p:nvSpPr>
          <p:cNvPr id="5" name="Text 3"/>
          <p:cNvSpPr/>
          <p:nvPr/>
        </p:nvSpPr>
        <p:spPr>
          <a:xfrm>
            <a:off x="812800" y="2339339"/>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0o123 = 64 + 16 + 3 = 83.</a:t>
            </a:r>
            <a:endParaRPr lang="en-US" sz="1500" dirty="0"/>
          </a:p>
        </p:txBody>
      </p:sp>
      <p:sp>
        <p:nvSpPr>
          <p:cNvPr id="6" name="Text 4"/>
          <p:cNvSpPr/>
          <p:nvPr/>
        </p:nvSpPr>
        <p:spPr>
          <a:xfrm>
            <a:off x="812800" y="2758439"/>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Output is always decimal.</a:t>
            </a:r>
            <a:endParaRPr lang="en-US" sz="1500" dirty="0"/>
          </a:p>
        </p:txBody>
      </p:sp>
      <p:sp>
        <p:nvSpPr>
          <p:cNvPr id="7" name="Text 5"/>
          <p:cNvSpPr/>
          <p:nvPr/>
        </p:nvSpPr>
        <p:spPr>
          <a:xfrm>
            <a:off x="5232400" y="1920239"/>
            <a:ext cx="6146800" cy="2241550"/>
          </a:xfrm>
          <a:prstGeom prst="roundRect">
            <a:avLst>
              <a:gd name="adj" fmla="val 6799"/>
            </a:avLst>
          </a:prstGeom>
          <a:solidFill>
            <a:srgbClr val="0A1322"/>
          </a:solidFill>
          <a:ln/>
        </p:spPr>
        <p:txBody>
          <a:bodyPr wrap="none" lIns="209364" tIns="209364" rIns="40200" bIns="183964" rtlCol="0" anchor="t">
            <a:normAutofit/>
          </a:bodyPr>
          <a:lstStyle/>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1111    </a:t>
            </a:r>
            <a:r>
              <a:rPr lang="en-US" sz="1300" dirty="0">
                <a:solidFill>
                  <a:srgbClr val="7F8FA8"/>
                </a:solidFill>
                <a:latin typeface="JetBrains Mono" pitchFamily="49" charset="0"/>
                <a:ea typeface="JetBrains Mono" pitchFamily="49" charset="-122"/>
                <a:cs typeface="JetBrains Mono" pitchFamily="49" charset="-120"/>
              </a:rPr>
              <a:t># 1111</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0b1111  </a:t>
            </a:r>
            <a:r>
              <a:rPr lang="en-US" sz="1300" dirty="0">
                <a:solidFill>
                  <a:srgbClr val="7F8FA8"/>
                </a:solidFill>
                <a:latin typeface="JetBrains Mono" pitchFamily="49" charset="0"/>
                <a:ea typeface="JetBrains Mono" pitchFamily="49" charset="-122"/>
                <a:cs typeface="JetBrains Mono" pitchFamily="49" charset="-120"/>
              </a:rPr>
              <a:t># 15</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0b111   </a:t>
            </a:r>
            <a:r>
              <a:rPr lang="en-US" sz="1300" dirty="0">
                <a:solidFill>
                  <a:srgbClr val="7F8FA8"/>
                </a:solidFill>
                <a:latin typeface="JetBrains Mono" pitchFamily="49" charset="0"/>
                <a:ea typeface="JetBrains Mono" pitchFamily="49" charset="-122"/>
                <a:cs typeface="JetBrains Mono" pitchFamily="49" charset="-120"/>
              </a:rPr>
              <a:t># 7</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0o123   </a:t>
            </a:r>
            <a:r>
              <a:rPr lang="en-US" sz="1300" dirty="0">
                <a:solidFill>
                  <a:srgbClr val="7F8FA8"/>
                </a:solidFill>
                <a:latin typeface="JetBrains Mono" pitchFamily="49" charset="0"/>
                <a:ea typeface="JetBrains Mono" pitchFamily="49" charset="-122"/>
                <a:cs typeface="JetBrains Mono" pitchFamily="49" charset="-120"/>
              </a:rPr>
              <a:t># 83</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0x10    </a:t>
            </a:r>
            <a:r>
              <a:rPr lang="en-US" sz="1300" dirty="0">
                <a:solidFill>
                  <a:srgbClr val="7F8FA8"/>
                </a:solidFill>
                <a:latin typeface="JetBrains Mono" pitchFamily="49" charset="0"/>
                <a:ea typeface="JetBrains Mono" pitchFamily="49" charset="-122"/>
                <a:cs typeface="JetBrains Mono" pitchFamily="49" charset="-120"/>
              </a:rPr>
              <a:t># 16</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0xface  </a:t>
            </a:r>
            <a:r>
              <a:rPr lang="en-US" sz="1300" dirty="0">
                <a:solidFill>
                  <a:srgbClr val="7F8FA8"/>
                </a:solidFill>
                <a:latin typeface="JetBrains Mono" pitchFamily="49" charset="0"/>
                <a:ea typeface="JetBrains Mono" pitchFamily="49" charset="-122"/>
                <a:cs typeface="JetBrains Mono" pitchFamily="49" charset="-120"/>
              </a:rPr>
              <a:t># 64206</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a = 0xbeef  </a:t>
            </a:r>
            <a:r>
              <a:rPr lang="en-US" sz="1300" dirty="0">
                <a:solidFill>
                  <a:srgbClr val="7F8FA8"/>
                </a:solidFill>
                <a:latin typeface="JetBrains Mono" pitchFamily="49" charset="0"/>
                <a:ea typeface="JetBrains Mono" pitchFamily="49" charset="-122"/>
                <a:cs typeface="JetBrains Mono" pitchFamily="49" charset="-120"/>
              </a:rPr>
              <a:t># 48879</a:t>
            </a:r>
            <a:endParaRPr lang="en-US" sz="1300" dirty="0"/>
          </a:p>
        </p:txBody>
      </p:sp>
      <p:sp>
        <p:nvSpPr>
          <p:cNvPr id="8"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9" name="Text 7"/>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8 / 14</a:t>
            </a:r>
            <a:endParaRPr 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INT TYPE</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Invalid literals</a:t>
            </a:r>
            <a:endParaRPr lang="en-US" sz="3600" dirty="0"/>
          </a:p>
        </p:txBody>
      </p:sp>
      <p:sp>
        <p:nvSpPr>
          <p:cNvPr id="4" name="Shape 2"/>
          <p:cNvSpPr/>
          <p:nvPr/>
        </p:nvSpPr>
        <p:spPr>
          <a:xfrm>
            <a:off x="815975" y="1923417"/>
            <a:ext cx="3397250" cy="1949450"/>
          </a:xfrm>
          <a:prstGeom prst="roundRect">
            <a:avLst>
              <a:gd name="adj" fmla="val 5049"/>
            </a:avLst>
          </a:prstGeom>
          <a:solidFill>
            <a:srgbClr val="FDFCF8"/>
          </a:solidFill>
          <a:ln w="6350">
            <a:solidFill>
              <a:srgbClr val="E3DED2"/>
            </a:solidFill>
            <a:prstDash val="solid"/>
          </a:ln>
        </p:spPr>
      </p:sp>
      <p:sp>
        <p:nvSpPr>
          <p:cNvPr id="5" name="Text 3"/>
          <p:cNvSpPr/>
          <p:nvPr/>
        </p:nvSpPr>
        <p:spPr>
          <a:xfrm>
            <a:off x="1046480" y="2153921"/>
            <a:ext cx="302432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Binary</a:t>
            </a:r>
            <a:endParaRPr lang="en-US" sz="1800" dirty="0"/>
          </a:p>
        </p:txBody>
      </p:sp>
      <p:sp>
        <p:nvSpPr>
          <p:cNvPr id="6" name="Text 4"/>
          <p:cNvSpPr/>
          <p:nvPr/>
        </p:nvSpPr>
        <p:spPr>
          <a:xfrm>
            <a:off x="1046480" y="2529842"/>
            <a:ext cx="302432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b111 has no 0 prefix.</a:t>
            </a:r>
            <a:endParaRPr lang="en-US" sz="1400" dirty="0"/>
          </a:p>
        </p:txBody>
      </p:sp>
      <p:sp>
        <p:nvSpPr>
          <p:cNvPr id="7" name="Text 5"/>
          <p:cNvSpPr/>
          <p:nvPr/>
        </p:nvSpPr>
        <p:spPr>
          <a:xfrm>
            <a:off x="1046480" y="2880364"/>
            <a:ext cx="2936240" cy="762000"/>
          </a:xfrm>
          <a:prstGeom prst="roundRect">
            <a:avLst>
              <a:gd name="adj" fmla="val 13333"/>
            </a:avLst>
          </a:prstGeom>
          <a:solidFill>
            <a:srgbClr val="0A1322"/>
          </a:solidFill>
          <a:ln/>
        </p:spPr>
        <p:txBody>
          <a:bodyPr wrap="none" lIns="122642" tIns="122642" rIns="43699" bIns="97242" rtlCol="0" anchor="t">
            <a:normAutofit/>
          </a:bodyPr>
          <a:lstStyle/>
          <a:p>
            <a:pPr marL="0" indent="0" algn="l">
              <a:lnSpc>
                <a:spcPts val="1800"/>
              </a:lnSpc>
              <a:buNone/>
            </a:pPr>
            <a:r>
              <a:rPr lang="en-US" sz="1200" dirty="0">
                <a:solidFill>
                  <a:srgbClr val="E6EBF2"/>
                </a:solidFill>
                <a:latin typeface="JetBrains Mono" pitchFamily="49" charset="0"/>
                <a:ea typeface="JetBrains Mono" pitchFamily="49" charset="-122"/>
                <a:cs typeface="JetBrains Mono" pitchFamily="49" charset="-120"/>
              </a:rPr>
              <a:t>a = b111</a:t>
            </a:r>
            <a:endParaRPr lang="en-US" sz="1200" dirty="0"/>
          </a:p>
          <a:p>
            <a:pPr marL="0" indent="0" algn="l">
              <a:lnSpc>
                <a:spcPts val="1800"/>
              </a:lnSpc>
              <a:buNone/>
            </a:pPr>
            <a:r>
              <a:rPr lang="en-US" sz="1200" dirty="0">
                <a:solidFill>
                  <a:srgbClr val="7F8FA8"/>
                </a:solidFill>
                <a:latin typeface="JetBrains Mono" pitchFamily="49" charset="0"/>
                <a:ea typeface="JetBrains Mono" pitchFamily="49" charset="-122"/>
                <a:cs typeface="JetBrains Mono" pitchFamily="49" charset="-120"/>
              </a:rPr>
              <a:t># NameError</a:t>
            </a:r>
            <a:endParaRPr lang="en-US" sz="1200" dirty="0"/>
          </a:p>
        </p:txBody>
      </p:sp>
      <p:sp>
        <p:nvSpPr>
          <p:cNvPr id="8" name="Shape 6"/>
          <p:cNvSpPr/>
          <p:nvPr/>
        </p:nvSpPr>
        <p:spPr>
          <a:xfrm>
            <a:off x="4397375" y="1923417"/>
            <a:ext cx="3397250" cy="1949450"/>
          </a:xfrm>
          <a:prstGeom prst="roundRect">
            <a:avLst>
              <a:gd name="adj" fmla="val 5049"/>
            </a:avLst>
          </a:prstGeom>
          <a:solidFill>
            <a:srgbClr val="FDFCF8"/>
          </a:solidFill>
          <a:ln w="6350">
            <a:solidFill>
              <a:srgbClr val="E3DED2"/>
            </a:solidFill>
            <a:prstDash val="solid"/>
          </a:ln>
        </p:spPr>
      </p:sp>
      <p:sp>
        <p:nvSpPr>
          <p:cNvPr id="9" name="Text 7"/>
          <p:cNvSpPr/>
          <p:nvPr/>
        </p:nvSpPr>
        <p:spPr>
          <a:xfrm>
            <a:off x="4627880" y="2153921"/>
            <a:ext cx="302432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Octal</a:t>
            </a:r>
            <a:endParaRPr lang="en-US" sz="1800" dirty="0"/>
          </a:p>
        </p:txBody>
      </p:sp>
      <p:sp>
        <p:nvSpPr>
          <p:cNvPr id="10" name="Text 8"/>
          <p:cNvSpPr/>
          <p:nvPr/>
        </p:nvSpPr>
        <p:spPr>
          <a:xfrm>
            <a:off x="4627880" y="2529842"/>
            <a:ext cx="302432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8 is not an octal digit.</a:t>
            </a:r>
            <a:endParaRPr lang="en-US" sz="1400" dirty="0"/>
          </a:p>
        </p:txBody>
      </p:sp>
      <p:sp>
        <p:nvSpPr>
          <p:cNvPr id="11" name="Text 9"/>
          <p:cNvSpPr/>
          <p:nvPr/>
        </p:nvSpPr>
        <p:spPr>
          <a:xfrm>
            <a:off x="4627880" y="2880364"/>
            <a:ext cx="2936240" cy="762000"/>
          </a:xfrm>
          <a:prstGeom prst="roundRect">
            <a:avLst>
              <a:gd name="adj" fmla="val 13333"/>
            </a:avLst>
          </a:prstGeom>
          <a:solidFill>
            <a:srgbClr val="0A1322"/>
          </a:solidFill>
          <a:ln/>
        </p:spPr>
        <p:txBody>
          <a:bodyPr wrap="none" lIns="122642" tIns="122642" rIns="43699" bIns="97242" rtlCol="0" anchor="t">
            <a:normAutofit/>
          </a:bodyPr>
          <a:lstStyle/>
          <a:p>
            <a:pPr marL="0" indent="0" algn="l">
              <a:lnSpc>
                <a:spcPts val="1800"/>
              </a:lnSpc>
              <a:buNone/>
            </a:pPr>
            <a:r>
              <a:rPr lang="en-US" sz="1200" dirty="0">
                <a:solidFill>
                  <a:srgbClr val="E6EBF2"/>
                </a:solidFill>
                <a:latin typeface="JetBrains Mono" pitchFamily="49" charset="0"/>
                <a:ea typeface="JetBrains Mono" pitchFamily="49" charset="-122"/>
                <a:cs typeface="JetBrains Mono" pitchFamily="49" charset="-120"/>
              </a:rPr>
              <a:t>a = 0o786</a:t>
            </a:r>
            <a:endParaRPr lang="en-US" sz="1200" dirty="0"/>
          </a:p>
          <a:p>
            <a:pPr marL="0" indent="0" algn="l">
              <a:lnSpc>
                <a:spcPts val="1800"/>
              </a:lnSpc>
              <a:buNone/>
            </a:pPr>
            <a:r>
              <a:rPr lang="en-US" sz="1200" dirty="0">
                <a:solidFill>
                  <a:srgbClr val="7F8FA8"/>
                </a:solidFill>
                <a:latin typeface="JetBrains Mono" pitchFamily="49" charset="0"/>
                <a:ea typeface="JetBrains Mono" pitchFamily="49" charset="-122"/>
                <a:cs typeface="JetBrains Mono" pitchFamily="49" charset="-120"/>
              </a:rPr>
              <a:t># SyntaxError</a:t>
            </a:r>
            <a:endParaRPr lang="en-US" sz="1200" dirty="0"/>
          </a:p>
        </p:txBody>
      </p:sp>
      <p:sp>
        <p:nvSpPr>
          <p:cNvPr id="12" name="Shape 10"/>
          <p:cNvSpPr/>
          <p:nvPr/>
        </p:nvSpPr>
        <p:spPr>
          <a:xfrm>
            <a:off x="7978775" y="1923417"/>
            <a:ext cx="3397250" cy="1949450"/>
          </a:xfrm>
          <a:prstGeom prst="roundRect">
            <a:avLst>
              <a:gd name="adj" fmla="val 5049"/>
            </a:avLst>
          </a:prstGeom>
          <a:solidFill>
            <a:srgbClr val="FDFCF8"/>
          </a:solidFill>
          <a:ln w="6350">
            <a:solidFill>
              <a:srgbClr val="E3DED2"/>
            </a:solidFill>
            <a:prstDash val="solid"/>
          </a:ln>
        </p:spPr>
      </p:sp>
      <p:sp>
        <p:nvSpPr>
          <p:cNvPr id="13" name="Text 11"/>
          <p:cNvSpPr/>
          <p:nvPr/>
        </p:nvSpPr>
        <p:spPr>
          <a:xfrm>
            <a:off x="8209280" y="2153921"/>
            <a:ext cx="302432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Hex</a:t>
            </a:r>
            <a:endParaRPr lang="en-US" sz="1800" dirty="0"/>
          </a:p>
        </p:txBody>
      </p:sp>
      <p:sp>
        <p:nvSpPr>
          <p:cNvPr id="14" name="Text 12"/>
          <p:cNvSpPr/>
          <p:nvPr/>
        </p:nvSpPr>
        <p:spPr>
          <a:xfrm>
            <a:off x="8209280" y="2529842"/>
            <a:ext cx="302432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r is not a hex digit.</a:t>
            </a:r>
            <a:endParaRPr lang="en-US" sz="1400" dirty="0"/>
          </a:p>
        </p:txBody>
      </p:sp>
      <p:sp>
        <p:nvSpPr>
          <p:cNvPr id="15" name="Text 13"/>
          <p:cNvSpPr/>
          <p:nvPr/>
        </p:nvSpPr>
        <p:spPr>
          <a:xfrm>
            <a:off x="8209280" y="2880364"/>
            <a:ext cx="2936240" cy="762000"/>
          </a:xfrm>
          <a:prstGeom prst="roundRect">
            <a:avLst>
              <a:gd name="adj" fmla="val 13333"/>
            </a:avLst>
          </a:prstGeom>
          <a:solidFill>
            <a:srgbClr val="0A1322"/>
          </a:solidFill>
          <a:ln/>
        </p:spPr>
        <p:txBody>
          <a:bodyPr wrap="none" lIns="122642" tIns="122642" rIns="43699" bIns="97242" rtlCol="0" anchor="t">
            <a:normAutofit/>
          </a:bodyPr>
          <a:lstStyle/>
          <a:p>
            <a:pPr marL="0" indent="0" algn="l">
              <a:lnSpc>
                <a:spcPts val="1800"/>
              </a:lnSpc>
              <a:buNone/>
            </a:pPr>
            <a:r>
              <a:rPr lang="en-US" sz="1200" dirty="0">
                <a:solidFill>
                  <a:srgbClr val="E6EBF2"/>
                </a:solidFill>
                <a:latin typeface="JetBrains Mono" pitchFamily="49" charset="0"/>
                <a:ea typeface="JetBrains Mono" pitchFamily="49" charset="-122"/>
                <a:cs typeface="JetBrains Mono" pitchFamily="49" charset="-120"/>
              </a:rPr>
              <a:t>a = 0xbeer</a:t>
            </a:r>
            <a:endParaRPr lang="en-US" sz="1200" dirty="0"/>
          </a:p>
          <a:p>
            <a:pPr marL="0" indent="0" algn="l">
              <a:lnSpc>
                <a:spcPts val="1800"/>
              </a:lnSpc>
              <a:buNone/>
            </a:pPr>
            <a:r>
              <a:rPr lang="en-US" sz="1200" dirty="0">
                <a:solidFill>
                  <a:srgbClr val="7F8FA8"/>
                </a:solidFill>
                <a:latin typeface="JetBrains Mono" pitchFamily="49" charset="0"/>
                <a:ea typeface="JetBrains Mono" pitchFamily="49" charset="-122"/>
                <a:cs typeface="JetBrains Mono" pitchFamily="49" charset="-120"/>
              </a:rPr>
              <a:t># SyntaxError</a:t>
            </a:r>
            <a:endParaRPr lang="en-US" sz="1200" dirty="0"/>
          </a:p>
        </p:txBody>
      </p:sp>
      <p:sp>
        <p:nvSpPr>
          <p:cNvPr id="16" name="Text 1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17" name="Text 15"/>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9 / 14</a:t>
            </a:r>
            <a:endParaRPr lang="en-US" sz="1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D43B"/>
        </a:solidFill>
        <a:effectLst/>
      </p:bgPr>
    </p:bg>
    <p:spTree>
      <p:nvGrpSpPr>
        <p:cNvPr id="1" name=""/>
        <p:cNvGrpSpPr/>
        <p:nvPr/>
      </p:nvGrpSpPr>
      <p:grpSpPr>
        <a:xfrm>
          <a:off x="0" y="0"/>
          <a:ext cx="0" cy="0"/>
          <a:chOff x="0" y="0"/>
          <a:chExt cx="0" cy="0"/>
        </a:xfrm>
      </p:grpSpPr>
      <p:sp>
        <p:nvSpPr>
          <p:cNvPr id="2" name="Text 0"/>
          <p:cNvSpPr/>
          <p:nvPr/>
        </p:nvSpPr>
        <p:spPr>
          <a:xfrm>
            <a:off x="812800" y="217551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0F1B2D"/>
                </a:solidFill>
                <a:latin typeface="IBM Plex Sans" pitchFamily="34" charset="0"/>
                <a:ea typeface="IBM Plex Sans" pitchFamily="34" charset="-122"/>
                <a:cs typeface="IBM Plex Sans" pitchFamily="34" charset="-120"/>
              </a:rPr>
              <a:t>BASE CONVERSION</a:t>
            </a:r>
            <a:endParaRPr lang="en-US" sz="1400" dirty="0"/>
          </a:p>
        </p:txBody>
      </p:sp>
      <p:sp>
        <p:nvSpPr>
          <p:cNvPr id="3" name="Text 1"/>
          <p:cNvSpPr>
            <a:spLocks noGrp="1"/>
          </p:cNvSpPr>
          <p:nvPr>
            <p:ph type="title"/>
          </p:nvPr>
        </p:nvSpPr>
        <p:spPr>
          <a:xfrm>
            <a:off x="812800" y="2678429"/>
            <a:ext cx="9810750" cy="1252220"/>
          </a:xfrm>
          <a:prstGeom prst="rect">
            <a:avLst/>
          </a:prstGeom>
          <a:noFill/>
          <a:ln/>
        </p:spPr>
        <p:txBody>
          <a:bodyPr wrap="square" lIns="0" tIns="0" rIns="0" bIns="0" rtlCol="0" anchor="t">
            <a:normAutofit/>
          </a:bodyPr>
          <a:lstStyle/>
          <a:p>
            <a:pPr marL="0" indent="0" algn="l">
              <a:lnSpc>
                <a:spcPts val="4830"/>
              </a:lnSpc>
              <a:buNone/>
            </a:pPr>
            <a:r>
              <a:rPr lang="en-US" sz="4200" b="1" i="0" dirty="0">
                <a:solidFill>
                  <a:srgbClr val="0F1B2D"/>
                </a:solidFill>
                <a:latin typeface="IBM Plex Sans" pitchFamily="34" charset="0"/>
                <a:ea typeface="IBM Plex Sans" pitchFamily="34" charset="-122"/>
                <a:cs typeface="IBM Plex Sans" pitchFamily="34" charset="-120"/>
              </a:rPr>
              <a:t>Three built-in functions convert between bases.</a:t>
            </a:r>
            <a:endParaRPr lang="en-US" sz="4200" dirty="0"/>
          </a:p>
        </p:txBody>
      </p:sp>
      <p:sp>
        <p:nvSpPr>
          <p:cNvPr id="4" name="Text 2"/>
          <p:cNvSpPr/>
          <p:nvPr/>
        </p:nvSpPr>
        <p:spPr>
          <a:xfrm>
            <a:off x="812800" y="4159250"/>
            <a:ext cx="9156700"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0F1B2D"/>
                </a:solidFill>
                <a:latin typeface="IBM Plex Sans" pitchFamily="34" charset="0"/>
                <a:ea typeface="IBM Plex Sans" pitchFamily="34" charset="-122"/>
                <a:cs typeface="IBM Plex Sans" pitchFamily="34" charset="-120"/>
              </a:rPr>
              <a:t>bin(), oct() and hex() work with integral numbers only.</a:t>
            </a:r>
            <a:endParaRPr lang="en-US" sz="1800" dirty="0"/>
          </a:p>
        </p:txBody>
      </p:sp>
      <p:sp>
        <p:nvSpPr>
          <p:cNvPr id="5" name="Text 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6" name="Text 4"/>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10 / 14</a:t>
            </a:r>
            <a:endParaRPr lang="en-US" sz="1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BASE CONVERSION</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bin() and oct()</a:t>
            </a:r>
            <a:endParaRPr lang="en-US" sz="3600" dirty="0"/>
          </a:p>
        </p:txBody>
      </p:sp>
      <p:sp>
        <p:nvSpPr>
          <p:cNvPr id="4" name="Text 2"/>
          <p:cNvSpPr/>
          <p:nvPr/>
        </p:nvSpPr>
        <p:spPr>
          <a:xfrm>
            <a:off x="812800" y="1920242"/>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bin() converts any base to binary.</a:t>
            </a:r>
            <a:endParaRPr lang="en-US" sz="1500" dirty="0"/>
          </a:p>
        </p:txBody>
      </p:sp>
      <p:sp>
        <p:nvSpPr>
          <p:cNvPr id="5" name="Text 3"/>
          <p:cNvSpPr/>
          <p:nvPr/>
        </p:nvSpPr>
        <p:spPr>
          <a:xfrm>
            <a:off x="812800" y="2339342"/>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oct() converts any base to octal.</a:t>
            </a:r>
            <a:endParaRPr lang="en-US" sz="1500" dirty="0"/>
          </a:p>
        </p:txBody>
      </p:sp>
      <p:sp>
        <p:nvSpPr>
          <p:cNvPr id="6" name="Text 4"/>
          <p:cNvSpPr/>
          <p:nvPr/>
        </p:nvSpPr>
        <p:spPr>
          <a:xfrm>
            <a:off x="812800" y="2758442"/>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The result is a string with its prefix.</a:t>
            </a:r>
            <a:endParaRPr lang="en-US" sz="1500" dirty="0"/>
          </a:p>
        </p:txBody>
      </p:sp>
      <p:sp>
        <p:nvSpPr>
          <p:cNvPr id="7" name="Text 5"/>
          <p:cNvSpPr/>
          <p:nvPr/>
        </p:nvSpPr>
        <p:spPr>
          <a:xfrm>
            <a:off x="5232400" y="1920242"/>
            <a:ext cx="6146800" cy="2984500"/>
          </a:xfrm>
          <a:prstGeom prst="roundRect">
            <a:avLst>
              <a:gd name="adj" fmla="val 5106"/>
            </a:avLst>
          </a:prstGeom>
          <a:solidFill>
            <a:srgbClr val="0A1322"/>
          </a:solidFill>
          <a:ln/>
        </p:spPr>
        <p:txBody>
          <a:bodyPr wrap="none" lIns="209364" tIns="209364" rIns="40200" bIns="183964" rtlCol="0" anchor="t">
            <a:normAutofit/>
          </a:bodyPr>
          <a:lstStyle/>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bin(15)</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'0b1111'</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bin(0o123)</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'0b1010011'</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bin(0xface)</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'0b1111101011001110'</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oct(0b111101)</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'0o75'</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oct(0xface)</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'0o175316'</a:t>
            </a:r>
            <a:endParaRPr lang="en-US" sz="1300" dirty="0"/>
          </a:p>
        </p:txBody>
      </p:sp>
      <p:sp>
        <p:nvSpPr>
          <p:cNvPr id="8"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9" name="Text 7"/>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11 / 14</a:t>
            </a:r>
            <a:endParaRPr lang="en-US" sz="12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BASE CONVERSION</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hex()</a:t>
            </a:r>
            <a:endParaRPr lang="en-US" sz="3600" dirty="0"/>
          </a:p>
        </p:txBody>
      </p:sp>
      <p:sp>
        <p:nvSpPr>
          <p:cNvPr id="4" name="Text 2"/>
          <p:cNvSpPr/>
          <p:nvPr/>
        </p:nvSpPr>
        <p:spPr>
          <a:xfrm>
            <a:off x="812800" y="1920242"/>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hex() converts any base to hexadecimal.</a:t>
            </a:r>
            <a:endParaRPr lang="en-US" sz="1500" dirty="0"/>
          </a:p>
        </p:txBody>
      </p:sp>
      <p:sp>
        <p:nvSpPr>
          <p:cNvPr id="5" name="Text 3"/>
          <p:cNvSpPr/>
          <p:nvPr/>
        </p:nvSpPr>
        <p:spPr>
          <a:xfrm>
            <a:off x="812800" y="2339342"/>
            <a:ext cx="4185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Works only for integral numbers.</a:t>
            </a:r>
            <a:endParaRPr lang="en-US" sz="1500" dirty="0"/>
          </a:p>
        </p:txBody>
      </p:sp>
      <p:sp>
        <p:nvSpPr>
          <p:cNvPr id="6" name="Text 4"/>
          <p:cNvSpPr/>
          <p:nvPr/>
        </p:nvSpPr>
        <p:spPr>
          <a:xfrm>
            <a:off x="812800" y="2758442"/>
            <a:ext cx="418592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IBM Plex Sans" pitchFamily="34" charset="0"/>
                <a:ea typeface="IBM Plex Sans" pitchFamily="34" charset="-122"/>
                <a:cs typeface="IBM Plex Sans" pitchFamily="34" charset="-120"/>
              </a:rPr>
              <a:t>Combine the three functions to move between any two bases.</a:t>
            </a:r>
            <a:endParaRPr lang="en-US" sz="1500" dirty="0"/>
          </a:p>
        </p:txBody>
      </p:sp>
      <p:sp>
        <p:nvSpPr>
          <p:cNvPr id="7" name="Text 5"/>
          <p:cNvSpPr/>
          <p:nvPr/>
        </p:nvSpPr>
        <p:spPr>
          <a:xfrm>
            <a:off x="5232400" y="1920242"/>
            <a:ext cx="6146800" cy="1993900"/>
          </a:xfrm>
          <a:prstGeom prst="roundRect">
            <a:avLst>
              <a:gd name="adj" fmla="val 7643"/>
            </a:avLst>
          </a:prstGeom>
          <a:solidFill>
            <a:srgbClr val="0A1322"/>
          </a:solidFill>
          <a:ln/>
        </p:spPr>
        <p:txBody>
          <a:bodyPr wrap="none" lIns="209364" tIns="209364" rIns="40200" bIns="183964" rtlCol="0" anchor="t">
            <a:normAutofit/>
          </a:bodyPr>
          <a:lstStyle/>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hex(255)</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'0xff'</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hex(0b1111)</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'0xf'</a:t>
            </a:r>
            <a:endParaRPr lang="en-US" sz="1300" dirty="0"/>
          </a:p>
          <a:p>
            <a:pPr marL="0" indent="0" algn="l">
              <a:lnSpc>
                <a:spcPts val="1950"/>
              </a:lnSpc>
              <a:buNone/>
            </a:pPr>
            <a:r>
              <a:rPr lang="en-US" sz="1300" dirty="0">
                <a:solidFill>
                  <a:srgbClr val="E6EBF2"/>
                </a:solidFill>
                <a:latin typeface="JetBrains Mono" pitchFamily="49" charset="0"/>
                <a:ea typeface="JetBrains Mono" pitchFamily="49" charset="-122"/>
                <a:cs typeface="JetBrains Mono" pitchFamily="49" charset="-120"/>
              </a:rPr>
              <a:t>hex(0o17)</a:t>
            </a:r>
            <a:endParaRPr lang="en-US" sz="1300" dirty="0"/>
          </a:p>
          <a:p>
            <a:pPr marL="0" indent="0" algn="l">
              <a:lnSpc>
                <a:spcPts val="1950"/>
              </a:lnSpc>
              <a:buNone/>
            </a:pPr>
            <a:r>
              <a:rPr lang="en-US" sz="1300" dirty="0">
                <a:solidFill>
                  <a:srgbClr val="7F8FA8"/>
                </a:solidFill>
                <a:latin typeface="JetBrains Mono" pitchFamily="49" charset="0"/>
                <a:ea typeface="JetBrains Mono" pitchFamily="49" charset="-122"/>
                <a:cs typeface="JetBrains Mono" pitchFamily="49" charset="-120"/>
              </a:rPr>
              <a:t># '0xf'</a:t>
            </a:r>
            <a:endParaRPr lang="en-US" sz="1300" dirty="0"/>
          </a:p>
        </p:txBody>
      </p:sp>
      <p:sp>
        <p:nvSpPr>
          <p:cNvPr id="8"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9" name="Text 7"/>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12 / 14</a:t>
            </a:r>
            <a:endParaRPr lang="en-US" sz="1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FFD43B"/>
                </a:solidFill>
                <a:latin typeface="IBM Plex Sans" pitchFamily="34" charset="0"/>
                <a:ea typeface="IBM Plex Sans" pitchFamily="34" charset="-122"/>
                <a:cs typeface="IBM Plex Sans" pitchFamily="34" charset="-120"/>
              </a:rPr>
              <a:t>RECAP</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4EE"/>
                </a:solidFill>
                <a:latin typeface="IBM Plex Sans" pitchFamily="34" charset="0"/>
                <a:ea typeface="IBM Plex Sans" pitchFamily="34" charset="-122"/>
                <a:cs typeface="IBM Plex Sans" pitchFamily="34" charset="-120"/>
              </a:rPr>
              <a:t>Key takeaways</a:t>
            </a:r>
            <a:endParaRPr lang="en-US" sz="3600" dirty="0"/>
          </a:p>
        </p:txBody>
      </p:sp>
      <p:sp>
        <p:nvSpPr>
          <p:cNvPr id="4" name="Text 2"/>
          <p:cNvSpPr/>
          <p:nvPr/>
        </p:nvSpPr>
        <p:spPr>
          <a:xfrm>
            <a:off x="827564" y="1971042"/>
            <a:ext cx="10180796" cy="1752600"/>
          </a:xfrm>
          <a:prstGeom prst="rect">
            <a:avLst/>
          </a:prstGeom>
          <a:noFill/>
          <a:ln/>
        </p:spPr>
        <p:txBody>
          <a:bodyPr wrap="square" lIns="0" tIns="0" rIns="0" bIns="0" rtlCol="0" anchor="t">
            <a:normAutofit/>
          </a:bodyPr>
          <a:lstStyle/>
          <a:p>
            <a:pPr marL="239236" indent="-239236" algn="l">
              <a:lnSpc>
                <a:spcPts val="2720"/>
              </a:lnSpc>
              <a:buSzPct val="100000"/>
              <a:buFontTx/>
              <a:buAutoNum type="arabicPeriod"/>
            </a:pPr>
            <a:r>
              <a:rPr lang="en-US" sz="1700" dirty="0">
                <a:solidFill>
                  <a:srgbClr val="F6F4EE"/>
                </a:solidFill>
                <a:latin typeface="IBM Plex Sans" pitchFamily="34" charset="0"/>
                <a:ea typeface="IBM Plex Sans" pitchFamily="34" charset="-122"/>
                <a:cs typeface="IBM Plex Sans" pitchFamily="34" charset="-120"/>
              </a:rPr>
              <a:t>Python is dynamically typed: the type comes from the value.</a:t>
            </a:r>
            <a:endParaRPr lang="en-US" sz="1700" dirty="0"/>
          </a:p>
          <a:p>
            <a:pPr marL="239236" indent="-239236" algn="l">
              <a:lnSpc>
                <a:spcPts val="2720"/>
              </a:lnSpc>
              <a:buSzPct val="100000"/>
              <a:buFontTx/>
              <a:buAutoNum type="arabicPeriod"/>
            </a:pPr>
            <a:r>
              <a:rPr lang="en-US" sz="1700" dirty="0">
                <a:solidFill>
                  <a:srgbClr val="F6F4EE"/>
                </a:solidFill>
                <a:latin typeface="IBM Plex Sans" pitchFamily="34" charset="0"/>
                <a:ea typeface="IBM Plex Sans" pitchFamily="34" charset="-122"/>
                <a:cs typeface="IBM Plex Sans" pitchFamily="34" charset="-120"/>
              </a:rPr>
              <a:t>Everything in Python is an object; a variable is a reference.</a:t>
            </a:r>
            <a:endParaRPr lang="en-US" sz="1700" dirty="0"/>
          </a:p>
          <a:p>
            <a:pPr marL="239236" indent="-239236" algn="l">
              <a:lnSpc>
                <a:spcPts val="2720"/>
              </a:lnSpc>
              <a:buSzPct val="100000"/>
              <a:buFontTx/>
              <a:buAutoNum type="arabicPeriod"/>
            </a:pPr>
            <a:r>
              <a:rPr lang="en-US" sz="1700" dirty="0">
                <a:solidFill>
                  <a:srgbClr val="F6F4EE"/>
                </a:solidFill>
                <a:latin typeface="IBM Plex Sans" pitchFamily="34" charset="0"/>
                <a:ea typeface="IBM Plex Sans" pitchFamily="34" charset="-122"/>
                <a:cs typeface="IBM Plex Sans" pitchFamily="34" charset="-120"/>
              </a:rPr>
              <a:t>type(), id() and print() are the most used built-ins.</a:t>
            </a:r>
            <a:endParaRPr lang="en-US" sz="1700" dirty="0"/>
          </a:p>
          <a:p>
            <a:pPr marL="239236" indent="-239236" algn="l">
              <a:lnSpc>
                <a:spcPts val="2720"/>
              </a:lnSpc>
              <a:buSzPct val="100000"/>
              <a:buFontTx/>
              <a:buAutoNum type="arabicPeriod"/>
            </a:pPr>
            <a:r>
              <a:rPr lang="en-US" sz="1700" dirty="0">
                <a:solidFill>
                  <a:srgbClr val="F6F4EE"/>
                </a:solidFill>
                <a:latin typeface="IBM Plex Sans" pitchFamily="34" charset="0"/>
                <a:ea typeface="IBM Plex Sans" pitchFamily="34" charset="-122"/>
                <a:cs typeface="IBM Plex Sans" pitchFamily="34" charset="-120"/>
              </a:rPr>
              <a:t>int has four literal forms: decimal, 0b, 0o, 0x.</a:t>
            </a:r>
            <a:endParaRPr lang="en-US" sz="1700" dirty="0"/>
          </a:p>
          <a:p>
            <a:pPr marL="239236" indent="-239236" algn="l">
              <a:lnSpc>
                <a:spcPts val="2720"/>
              </a:lnSpc>
              <a:buSzPct val="100000"/>
              <a:buFontTx/>
              <a:buAutoNum type="arabicPeriod"/>
            </a:pPr>
            <a:r>
              <a:rPr lang="en-US" sz="1700" dirty="0">
                <a:solidFill>
                  <a:srgbClr val="F6F4EE"/>
                </a:solidFill>
                <a:latin typeface="IBM Plex Sans" pitchFamily="34" charset="0"/>
                <a:ea typeface="IBM Plex Sans" pitchFamily="34" charset="-122"/>
                <a:cs typeface="IBM Plex Sans" pitchFamily="34" charset="-120"/>
              </a:rPr>
              <a:t>bin(), oct() and hex() convert integers between bases.</a:t>
            </a:r>
            <a:endParaRPr lang="en-US" sz="1700" dirty="0"/>
          </a:p>
        </p:txBody>
      </p:sp>
      <p:sp>
        <p:nvSpPr>
          <p:cNvPr id="5" name="Text 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0B8"/>
                </a:solidFill>
                <a:latin typeface="IBM Plex Sans" pitchFamily="34" charset="0"/>
                <a:ea typeface="IBM Plex Sans" pitchFamily="34" charset="-122"/>
                <a:cs typeface="IBM Plex Sans" pitchFamily="34" charset="-120"/>
              </a:rPr>
              <a:t>Python Course · Class 04</a:t>
            </a:r>
            <a:endParaRPr lang="en-US" sz="1200" dirty="0"/>
          </a:p>
        </p:txBody>
      </p:sp>
      <p:sp>
        <p:nvSpPr>
          <p:cNvPr id="6" name="Text 4"/>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0B8"/>
                </a:solidFill>
                <a:latin typeface="IBM Plex Sans" pitchFamily="34" charset="0"/>
                <a:ea typeface="IBM Plex Sans" pitchFamily="34" charset="-122"/>
                <a:cs typeface="IBM Plex Sans" pitchFamily="34" charset="-120"/>
              </a:rPr>
              <a:t>13 / 14</a:t>
            </a:r>
            <a:endParaRPr lang="en-US" sz="1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2B5F8E"/>
                </a:solidFill>
                <a:latin typeface="IBM Plex Sans" pitchFamily="34" charset="0"/>
                <a:ea typeface="IBM Plex Sans" pitchFamily="34" charset="-122"/>
                <a:cs typeface="IBM Plex Sans" pitchFamily="34" charset="-120"/>
              </a:rPr>
              <a:t>PRACTICE</a:t>
            </a:r>
            <a:endParaRPr lang="en-US" sz="1400" dirty="0"/>
          </a:p>
        </p:txBody>
      </p:sp>
      <p:sp>
        <p:nvSpPr>
          <p:cNvPr id="3" name="Text 1"/>
          <p:cNvSpPr>
            <a:spLocks noGrp="1"/>
          </p:cNvSpPr>
          <p:nvPr>
            <p:ph type="title"/>
          </p:nvPr>
        </p:nvSpPr>
        <p:spPr>
          <a:xfrm>
            <a:off x="812800" y="116332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F1B2D"/>
                </a:solidFill>
                <a:latin typeface="IBM Plex Sans" pitchFamily="34" charset="0"/>
                <a:ea typeface="IBM Plex Sans" pitchFamily="34" charset="-122"/>
                <a:cs typeface="IBM Plex Sans" pitchFamily="34" charset="-120"/>
              </a:rPr>
              <a:t>Check your understanding</a:t>
            </a:r>
            <a:endParaRPr lang="en-US" sz="3600" dirty="0"/>
          </a:p>
        </p:txBody>
      </p:sp>
      <p:sp>
        <p:nvSpPr>
          <p:cNvPr id="4" name="Text 2"/>
          <p:cNvSpPr/>
          <p:nvPr/>
        </p:nvSpPr>
        <p:spPr>
          <a:xfrm>
            <a:off x="827564" y="1971042"/>
            <a:ext cx="10180796" cy="1407160"/>
          </a:xfrm>
          <a:prstGeom prst="rect">
            <a:avLst/>
          </a:prstGeom>
          <a:noFill/>
          <a:ln/>
        </p:spPr>
        <p:txBody>
          <a:bodyPr wrap="square" lIns="0" tIns="0" rIns="0" bIns="0" rtlCol="0" anchor="t">
            <a:normAutofit/>
          </a:bodyPr>
          <a:lstStyle/>
          <a:p>
            <a:pPr marL="239236" indent="-239236" algn="l">
              <a:lnSpc>
                <a:spcPts val="2720"/>
              </a:lnSpc>
              <a:buSzPct val="100000"/>
              <a:buFontTx/>
              <a:buAutoNum type="arabicPeriod"/>
            </a:pPr>
            <a:r>
              <a:rPr lang="en-US" sz="1700" dirty="0">
                <a:solidFill>
                  <a:srgbClr val="0F1B2D"/>
                </a:solidFill>
                <a:latin typeface="IBM Plex Sans" pitchFamily="34" charset="0"/>
                <a:ea typeface="IBM Plex Sans" pitchFamily="34" charset="-122"/>
                <a:cs typeface="IBM Plex Sans" pitchFamily="34" charset="-120"/>
              </a:rPr>
              <a:t>Which prefix marks a binary, octal and hex literal?</a:t>
            </a:r>
            <a:endParaRPr lang="en-US" sz="1700" dirty="0"/>
          </a:p>
          <a:p>
            <a:pPr marL="239236" indent="-239236" algn="l">
              <a:lnSpc>
                <a:spcPts val="2720"/>
              </a:lnSpc>
              <a:buSzPct val="100000"/>
              <a:buFontTx/>
              <a:buAutoNum type="arabicPeriod"/>
            </a:pPr>
            <a:r>
              <a:rPr lang="en-US" sz="1700" dirty="0">
                <a:solidFill>
                  <a:srgbClr val="0F1B2D"/>
                </a:solidFill>
                <a:latin typeface="IBM Plex Sans" pitchFamily="34" charset="0"/>
                <a:ea typeface="IBM Plex Sans" pitchFamily="34" charset="-122"/>
                <a:cs typeface="IBM Plex Sans" pitchFamily="34" charset="-120"/>
              </a:rPr>
              <a:t>Why is a = 0o786 a SyntaxError?</a:t>
            </a:r>
            <a:endParaRPr lang="en-US" sz="1700" dirty="0"/>
          </a:p>
          <a:p>
            <a:pPr marL="239236" indent="-239236" algn="l">
              <a:lnSpc>
                <a:spcPts val="2720"/>
              </a:lnSpc>
              <a:buSzPct val="100000"/>
              <a:buFontTx/>
              <a:buAutoNum type="arabicPeriod"/>
            </a:pPr>
            <a:r>
              <a:rPr lang="en-US" sz="1700" dirty="0">
                <a:solidFill>
                  <a:srgbClr val="0F1B2D"/>
                </a:solidFill>
                <a:latin typeface="IBM Plex Sans" pitchFamily="34" charset="0"/>
                <a:ea typeface="IBM Plex Sans" pitchFamily="34" charset="-122"/>
                <a:cs typeface="IBM Plex Sans" pitchFamily="34" charset="-120"/>
              </a:rPr>
              <a:t>What does bin(15) return?</a:t>
            </a:r>
            <a:endParaRPr lang="en-US" sz="1700" dirty="0"/>
          </a:p>
          <a:p>
            <a:pPr marL="239236" indent="-239236" algn="l">
              <a:lnSpc>
                <a:spcPts val="2720"/>
              </a:lnSpc>
              <a:buSzPct val="100000"/>
              <a:buFontTx/>
              <a:buAutoNum type="arabicPeriod"/>
            </a:pPr>
            <a:r>
              <a:rPr lang="en-US" sz="1700" dirty="0">
                <a:solidFill>
                  <a:srgbClr val="0F1B2D"/>
                </a:solidFill>
                <a:latin typeface="IBM Plex Sans" pitchFamily="34" charset="0"/>
                <a:ea typeface="IBM Plex Sans" pitchFamily="34" charset="-122"/>
                <a:cs typeface="IBM Plex Sans" pitchFamily="34" charset="-120"/>
              </a:rPr>
              <a:t>In Python 3, which type holds very long integers?</a:t>
            </a:r>
            <a:endParaRPr lang="en-US" sz="1700" dirty="0"/>
          </a:p>
        </p:txBody>
      </p:sp>
      <p:sp>
        <p:nvSpPr>
          <p:cNvPr id="5" name="Text 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56D"/>
                </a:solidFill>
                <a:latin typeface="IBM Plex Sans" pitchFamily="34" charset="0"/>
                <a:ea typeface="IBM Plex Sans" pitchFamily="34" charset="-122"/>
                <a:cs typeface="IBM Plex Sans" pitchFamily="34" charset="-120"/>
              </a:rPr>
              <a:t>Python Course · Class 04</a:t>
            </a:r>
            <a:endParaRPr lang="en-US" sz="1200" dirty="0"/>
          </a:p>
        </p:txBody>
      </p:sp>
      <p:sp>
        <p:nvSpPr>
          <p:cNvPr id="6" name="Text 4"/>
          <p:cNvSpPr/>
          <p:nvPr/>
        </p:nvSpPr>
        <p:spPr>
          <a:xfrm>
            <a:off x="9417050" y="6238242"/>
            <a:ext cx="196215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E656D"/>
                </a:solidFill>
                <a:latin typeface="IBM Plex Sans" pitchFamily="34" charset="0"/>
                <a:ea typeface="IBM Plex Sans" pitchFamily="34" charset="-122"/>
                <a:cs typeface="IBM Plex Sans" pitchFamily="34" charset="-120"/>
              </a:rPr>
              <a:t>14 / 14</a:t>
            </a:r>
            <a:endParaRPr 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ython Class 04: Data Types: Intro, int, Base Conversion">
  <a:themeElements>
    <a:clrScheme name="Python Class 04: Data Types: Intro, int, Base Conversion">
      <a:dk1>
        <a:srgbClr val="0F1B2D"/>
      </a:dk1>
      <a:lt1>
        <a:srgbClr val="F6F4EE"/>
      </a:lt1>
      <a:dk2>
        <a:srgbClr val="49515D"/>
      </a:dk2>
      <a:lt2>
        <a:srgbClr val="DFDEDB"/>
      </a:lt2>
      <a:accent1>
        <a:srgbClr val="2B5F8E"/>
      </a:accent1>
      <a:accent2>
        <a:srgbClr val="FFD43B"/>
      </a:accent2>
      <a:accent3>
        <a:srgbClr val="8FA0B8"/>
      </a:accent3>
      <a:accent4>
        <a:srgbClr val="5E656D"/>
      </a:accent4>
      <a:accent5>
        <a:srgbClr val="4A5568"/>
      </a:accent5>
      <a:accent6>
        <a:srgbClr val="B8C4D6"/>
      </a:accent6>
      <a:hlink>
        <a:srgbClr val="0563C1"/>
      </a:hlink>
      <a:folHlink>
        <a:srgbClr val="954F72"/>
      </a:folHlink>
    </a:clrScheme>
    <a:fontScheme name="Python Class 04: Data Types: Intro, int, Base Convers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955</Words>
  <Application>Microsoft Office PowerPoint</Application>
  <PresentationFormat>Widescreen</PresentationFormat>
  <Paragraphs>205</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Calibri</vt:lpstr>
      <vt:lpstr>IBM Plex Sans</vt:lpstr>
      <vt:lpstr>Arial</vt:lpstr>
      <vt:lpstr>JetBrains Mono</vt:lpstr>
      <vt:lpstr>Python Class 04: Data Types: Intro, int, Base Conversion</vt:lpstr>
      <vt:lpstr>Data Types: Intro, int, Base Conversion</vt:lpstr>
      <vt:lpstr>In this class</vt:lpstr>
      <vt:lpstr>Data types in Python</vt:lpstr>
      <vt:lpstr>14 built-in data types</vt:lpstr>
      <vt:lpstr>type(), id() and print()</vt:lpstr>
      <vt:lpstr>The int data type</vt:lpstr>
      <vt:lpstr>Four ways to write an integer</vt:lpstr>
      <vt:lpstr>Literals in each base</vt:lpstr>
      <vt:lpstr>Invalid literals</vt:lpstr>
      <vt:lpstr>Three built-in functions convert between bases.</vt:lpstr>
      <vt:lpstr>bin() and oct()</vt:lpstr>
      <vt:lpstr>hex()</vt:lpstr>
      <vt:lpstr>Key takeaways</vt:lpstr>
      <vt:lpstr>Check your understanding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Class 04: Data Types: Intro, int, Base Conversion</dc:title>
  <dc:subject/>
  <dc:creator>Alok Kumar Nayak</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dc:description>
  <cp:lastModifiedBy>Alok Kumar Nayak</cp:lastModifiedBy>
  <cp:revision>2</cp:revision>
  <dcterms:created xsi:type="dcterms:W3CDTF">2026-10-30T09:42:20Z</dcterms:created>
  <dcterms:modified xsi:type="dcterms:W3CDTF">2026-10-31T03:56:23Z</dcterms:modified>
</cp:coreProperties>
</file>